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FD9BE-3847-4488-A50B-046FEE75D0AD}" v="2" dt="2026-07-19T10:11:25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48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itunjay Sahani" userId="1238522644d6a809" providerId="LiveId" clId="{CC7B7CCE-B526-4B07-A7DC-7F06DD88298B}"/>
    <pc:docChg chg="undo redo custSel addSld delSld modSld">
      <pc:chgData name="Mritunjay Sahani" userId="1238522644d6a809" providerId="LiveId" clId="{CC7B7CCE-B526-4B07-A7DC-7F06DD88298B}" dt="2026-07-19T10:14:12.579" v="55" actId="1440"/>
      <pc:docMkLst>
        <pc:docMk/>
      </pc:docMkLst>
      <pc:sldChg chg="modSp mod">
        <pc:chgData name="Mritunjay Sahani" userId="1238522644d6a809" providerId="LiveId" clId="{CC7B7CCE-B526-4B07-A7DC-7F06DD88298B}" dt="2026-07-19T09:47:35.182" v="6" actId="1076"/>
        <pc:sldMkLst>
          <pc:docMk/>
          <pc:sldMk cId="0" sldId="256"/>
        </pc:sldMkLst>
        <pc:spChg chg="mod">
          <ac:chgData name="Mritunjay Sahani" userId="1238522644d6a809" providerId="LiveId" clId="{CC7B7CCE-B526-4B07-A7DC-7F06DD88298B}" dt="2026-07-19T09:47:35.182" v="6" actId="1076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Mritunjay Sahani" userId="1238522644d6a809" providerId="LiveId" clId="{CC7B7CCE-B526-4B07-A7DC-7F06DD88298B}" dt="2026-07-19T09:47:26.373" v="5" actId="1076"/>
        <pc:sldMkLst>
          <pc:docMk/>
          <pc:sldMk cId="0" sldId="257"/>
        </pc:sldMkLst>
        <pc:spChg chg="del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7" creationId="{00000000-0000-0000-0000-000000000000}"/>
          </ac:spMkLst>
        </pc:spChg>
        <pc:spChg chg="del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8" creationId="{00000000-0000-0000-0000-000000000000}"/>
          </ac:spMkLst>
        </pc:spChg>
        <pc:spChg chg="del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9" creationId="{00000000-0000-0000-0000-000000000000}"/>
          </ac:spMkLst>
        </pc:spChg>
        <pc:spChg chg="del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11" creationId="{00000000-0000-0000-0000-000000000000}"/>
          </ac:spMkLst>
        </pc:spChg>
        <pc:spChg chg="del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12" creationId="{00000000-0000-0000-0000-000000000000}"/>
          </ac:spMkLst>
        </pc:spChg>
        <pc:spChg chg="del">
          <ac:chgData name="Mritunjay Sahani" userId="1238522644d6a809" providerId="LiveId" clId="{CC7B7CCE-B526-4B07-A7DC-7F06DD88298B}" dt="2026-07-19T09:47:13.579" v="3" actId="2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6:50.390" v="0" actId="1076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17" creationId="{74A3127A-8CA9-47A4-5450-7BCB61D864E2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19" creationId="{DFAB173D-3E09-4F67-7345-F0A46C92BEAE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21" creationId="{22053A61-EC3A-4C93-6468-65B92C8844CF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23" creationId="{E1D298C8-36E8-E568-8356-DDF29400FE6C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25" creationId="{419F26B8-E19F-BAF8-03C7-4A833F2787A2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27" creationId="{1AE7F949-3C08-A11F-3FE5-53C254F85BED}"/>
          </ac:spMkLst>
        </pc:spChg>
        <pc:spChg chg="add mod">
          <ac:chgData name="Mritunjay Sahani" userId="1238522644d6a809" providerId="LiveId" clId="{CC7B7CCE-B526-4B07-A7DC-7F06DD88298B}" dt="2026-07-19T09:47:26.373" v="5" actId="1076"/>
          <ac:spMkLst>
            <pc:docMk/>
            <pc:sldMk cId="0" sldId="257"/>
            <ac:spMk id="29" creationId="{BDFA9F33-35CD-308C-3CE2-4B9118F0D30C}"/>
          </ac:spMkLst>
        </pc:spChg>
      </pc:sldChg>
      <pc:sldChg chg="modSp mod">
        <pc:chgData name="Mritunjay Sahani" userId="1238522644d6a809" providerId="LiveId" clId="{CC7B7CCE-B526-4B07-A7DC-7F06DD88298B}" dt="2026-07-19T09:48:04.576" v="10" actId="1076"/>
        <pc:sldMkLst>
          <pc:docMk/>
          <pc:sldMk cId="0" sldId="258"/>
        </pc:sldMkLst>
        <pc:spChg chg="mod">
          <ac:chgData name="Mritunjay Sahani" userId="1238522644d6a809" providerId="LiveId" clId="{CC7B7CCE-B526-4B07-A7DC-7F06DD88298B}" dt="2026-07-19T09:48:04.576" v="10" actId="1076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Mritunjay Sahani" userId="1238522644d6a809" providerId="LiveId" clId="{CC7B7CCE-B526-4B07-A7DC-7F06DD88298B}" dt="2026-07-19T09:50:08.013" v="21" actId="1076"/>
        <pc:sldMkLst>
          <pc:docMk/>
          <pc:sldMk cId="0" sldId="259"/>
        </pc:sldMkLst>
        <pc:spChg chg="mod">
          <ac:chgData name="Mritunjay Sahani" userId="1238522644d6a809" providerId="LiveId" clId="{CC7B7CCE-B526-4B07-A7DC-7F06DD88298B}" dt="2026-07-19T09:49:05.302" v="13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15.377" v="1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33.011" v="1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19.494" v="15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29.554" v="16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50.769" v="19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41.445" v="18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9:55.905" v="2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08.013" v="21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48:53.085" v="12" actId="1076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Mritunjay Sahani" userId="1238522644d6a809" providerId="LiveId" clId="{CC7B7CCE-B526-4B07-A7DC-7F06DD88298B}" dt="2026-07-19T09:50:29.874" v="24" actId="1076"/>
        <pc:sldMkLst>
          <pc:docMk/>
          <pc:sldMk cId="0" sldId="260"/>
        </pc:sldMkLst>
        <pc:spChg chg="mod">
          <ac:chgData name="Mritunjay Sahani" userId="1238522644d6a809" providerId="LiveId" clId="{CC7B7CCE-B526-4B07-A7DC-7F06DD88298B}" dt="2026-07-19T09:50:27.261" v="23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29.874" v="24" actId="1076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Mritunjay Sahani" userId="1238522644d6a809" providerId="LiveId" clId="{CC7B7CCE-B526-4B07-A7DC-7F06DD88298B}" dt="2026-07-19T09:50:45.258" v="25" actId="1076"/>
        <pc:sldMkLst>
          <pc:docMk/>
          <pc:sldMk cId="0" sldId="261"/>
        </pc:sldMkLst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0:45.258" v="25" actId="1076"/>
          <ac:spMkLst>
            <pc:docMk/>
            <pc:sldMk cId="0" sldId="261"/>
            <ac:spMk id="13" creationId="{00000000-0000-0000-0000-000000000000}"/>
          </ac:spMkLst>
        </pc:spChg>
      </pc:sldChg>
      <pc:sldChg chg="addSp modSp mod">
        <pc:chgData name="Mritunjay Sahani" userId="1238522644d6a809" providerId="LiveId" clId="{CC7B7CCE-B526-4B07-A7DC-7F06DD88298B}" dt="2026-07-19T10:14:12.579" v="55" actId="1440"/>
        <pc:sldMkLst>
          <pc:docMk/>
          <pc:sldMk cId="0" sldId="263"/>
        </pc:sldMkLst>
        <pc:spChg chg="mod">
          <ac:chgData name="Mritunjay Sahani" userId="1238522644d6a809" providerId="LiveId" clId="{CC7B7CCE-B526-4B07-A7DC-7F06DD88298B}" dt="2026-07-19T10:13:40.033" v="51" actId="14100"/>
          <ac:spMkLst>
            <pc:docMk/>
            <pc:sldMk cId="0" sldId="263"/>
            <ac:spMk id="7" creationId="{00000000-0000-0000-0000-000000000000}"/>
          </ac:spMkLst>
        </pc:spChg>
        <pc:picChg chg="add mod">
          <ac:chgData name="Mritunjay Sahani" userId="1238522644d6a809" providerId="LiveId" clId="{CC7B7CCE-B526-4B07-A7DC-7F06DD88298B}" dt="2026-07-19T10:14:12.579" v="55" actId="1440"/>
          <ac:picMkLst>
            <pc:docMk/>
            <pc:sldMk cId="0" sldId="263"/>
            <ac:picMk id="10" creationId="{102E6300-5BE1-A7EA-859C-3FA3C6F93F27}"/>
          </ac:picMkLst>
        </pc:picChg>
      </pc:sldChg>
      <pc:sldChg chg="modSp mod">
        <pc:chgData name="Mritunjay Sahani" userId="1238522644d6a809" providerId="LiveId" clId="{CC7B7CCE-B526-4B07-A7DC-7F06DD88298B}" dt="2026-07-19T09:51:55.206" v="34" actId="1076"/>
        <pc:sldMkLst>
          <pc:docMk/>
          <pc:sldMk cId="0" sldId="265"/>
        </pc:sldMkLst>
        <pc:spChg chg="mod">
          <ac:chgData name="Mritunjay Sahani" userId="1238522644d6a809" providerId="LiveId" clId="{CC7B7CCE-B526-4B07-A7DC-7F06DD88298B}" dt="2026-07-19T09:51:30.686" v="27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1:30.686" v="27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1:30.686" v="27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1:30.686" v="27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1:30.686" v="27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1:30.686" v="27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1:55.206" v="34" actId="1076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Mritunjay Sahani" userId="1238522644d6a809" providerId="LiveId" clId="{CC7B7CCE-B526-4B07-A7DC-7F06DD88298B}" dt="2026-07-19T09:52:11.559" v="37" actId="1076"/>
        <pc:sldMkLst>
          <pc:docMk/>
          <pc:sldMk cId="0" sldId="266"/>
        </pc:sldMkLst>
        <pc:spChg chg="mod">
          <ac:chgData name="Mritunjay Sahani" userId="1238522644d6a809" providerId="LiveId" clId="{CC7B7CCE-B526-4B07-A7DC-7F06DD88298B}" dt="2026-07-19T09:52:04.188" v="36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2:11.559" v="37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2:11.559" v="37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Mritunjay Sahani" userId="1238522644d6a809" providerId="LiveId" clId="{CC7B7CCE-B526-4B07-A7DC-7F06DD88298B}" dt="2026-07-19T09:52:11.559" v="37" actId="1076"/>
          <ac:spMkLst>
            <pc:docMk/>
            <pc:sldMk cId="0" sldId="266"/>
            <ac:spMk id="9" creationId="{00000000-0000-0000-0000-000000000000}"/>
          </ac:spMkLst>
        </pc:spChg>
      </pc:sldChg>
      <pc:sldChg chg="add del setBg">
        <pc:chgData name="Mritunjay Sahani" userId="1238522644d6a809" providerId="LiveId" clId="{CC7B7CCE-B526-4B07-A7DC-7F06DD88298B}" dt="2026-07-19T10:11:24.998" v="39"/>
        <pc:sldMkLst>
          <pc:docMk/>
          <pc:sldMk cId="3795184812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65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title and mention that this is the final IBM PBEL internship submission. Briefly say that the project predicts loan approval using a trained Random Forest model and a Streamlit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problem in simple terms: the project demonstrates how machine learning can support first-level loan screening. Also clarify that this is an educational system, not a production banking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through the main objectives. Emphasize that the project includes both the machine learning pipeline and the frontend application, so it is not just a notebook-style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dataset size and columns. Mention that Loan_Status is the target variable and that the dataset intentionally has realistic missing values, which are handled during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preprocessing steps exactly as implemented. The key point is that preprocessing is learned from the training data and reused during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why Random Forest was used: it is suitable for tabular classification and provides feature importance. Mention the actual hyperparameters from train_model.py.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architecture from dataset to training to saved artifacts to Streamlit prediction. Point out that predict.py is the bridge between model artifacts and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Streamlit application flow. A screenshot placeholder is used because no local browser screenshot was captured in this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evaluation metrics from the latest training run. Explain that the confusion matrix compares actual and predicted classes on the test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honest challenges and practical future improvements. Avoid overstating the project. Make it clear that the current version is suitable for academic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what was completed: dataset, preprocessing, model training, saved artifacts, prediction utility, and Streamlit app. End with the main learning from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evaluators and invite questions. Be ready to explain the code structure, preprocessing, metrics, and Streamlit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9552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3660"/>
                </a:solidFill>
                <a:latin typeface="Aptos Display"/>
              </a:defRPr>
            </a:pPr>
            <a:r>
              <a:t>Smart Loan Approval Prediction using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06040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5EA8"/>
                </a:solidFill>
                <a:latin typeface="Aptos"/>
              </a:defRPr>
            </a:pPr>
            <a:r>
              <a:rPr dirty="0"/>
              <a:t>IBM PBEL Internship Final Project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886200"/>
            <a:ext cx="2057400" cy="822960"/>
          </a:xfrm>
          <a:prstGeom prst="round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1,000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Dataset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886200"/>
            <a:ext cx="2057400" cy="822960"/>
          </a:xfrm>
          <a:prstGeom prst="roundRect">
            <a:avLst/>
          </a:prstGeom>
          <a:solidFill>
            <a:srgbClr val="103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RF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rPr dirty="0"/>
              <a:t>Random Forest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21808" y="3886200"/>
            <a:ext cx="2057400" cy="822960"/>
          </a:xfrm>
          <a:prstGeom prst="roundRect">
            <a:avLst/>
          </a:prstGeom>
          <a:solidFill>
            <a:srgbClr val="24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Streamlit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19" y="1947672"/>
            <a:ext cx="2560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700" b="1">
                <a:solidFill>
                  <a:srgbClr val="103660"/>
                </a:solidFill>
                <a:latin typeface="Aptos"/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250">
                <a:solidFill>
                  <a:srgbClr val="222B36"/>
                </a:solidFill>
                <a:latin typeface="Aptos"/>
              </a:defRPr>
            </a:pPr>
            <a:r>
              <a:t>Python ML project</a:t>
            </a:r>
          </a:p>
          <a:p>
            <a:pPr>
              <a:spcBef>
                <a:spcPts val="800"/>
              </a:spcBef>
              <a:defRPr sz="1250">
                <a:solidFill>
                  <a:srgbClr val="222B36"/>
                </a:solidFill>
                <a:latin typeface="Aptos"/>
              </a:defRPr>
            </a:pPr>
            <a:r>
              <a:t>Kaggle-style loan dataset</a:t>
            </a:r>
          </a:p>
          <a:p>
            <a:pPr>
              <a:spcBef>
                <a:spcPts val="800"/>
              </a:spcBef>
              <a:defRPr sz="1250">
                <a:solidFill>
                  <a:srgbClr val="222B36"/>
                </a:solidFill>
                <a:latin typeface="Aptos"/>
              </a:defRPr>
            </a:pPr>
            <a:r>
              <a:t>Saved model artifacts</a:t>
            </a:r>
          </a:p>
          <a:p>
            <a:pPr>
              <a:spcBef>
                <a:spcPts val="800"/>
              </a:spcBef>
              <a:defRPr sz="1250">
                <a:solidFill>
                  <a:srgbClr val="222B36"/>
                </a:solidFill>
                <a:latin typeface="Aptos"/>
              </a:defRPr>
            </a:pPr>
            <a:r>
              <a:t>Interactive prediction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Loan approval needs consistent first-level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577840" cy="33832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Manual loan screening can be slow and inconsistent for repeated applications.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Applicant details such as income, credit history, education, and property area affect approval decisions.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The project builds a basic machine learning system to classify applications as approved or rejected.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The implementation is for academic learning and not for real financial decision-making.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320540"/>
            <a:ext cx="4206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Scope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The app gives a prediction and confidence score from the trained model. It does not replace bank policy or human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4A3127A-8CA9-47A4-5450-7BCB61D864E2}"/>
              </a:ext>
            </a:extLst>
          </p:cNvPr>
          <p:cNvSpPr/>
          <p:nvPr/>
        </p:nvSpPr>
        <p:spPr>
          <a:xfrm>
            <a:off x="2249424" y="3198114"/>
            <a:ext cx="114300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Applicant data</a:t>
            </a:r>
          </a:p>
        </p:txBody>
      </p:sp>
      <p:sp>
        <p:nvSpPr>
          <p:cNvPr id="19" name="Right Arrow 7">
            <a:extLst>
              <a:ext uri="{FF2B5EF4-FFF2-40B4-BE49-F238E27FC236}">
                <a16:creationId xmlns:a16="http://schemas.microsoft.com/office/drawing/2014/main" id="{DFAB173D-3E09-4F67-7345-F0A46C92BEAE}"/>
              </a:ext>
            </a:extLst>
          </p:cNvPr>
          <p:cNvSpPr/>
          <p:nvPr/>
        </p:nvSpPr>
        <p:spPr>
          <a:xfrm>
            <a:off x="3438144" y="3440430"/>
            <a:ext cx="164592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22053A61-EC3A-4C93-6468-65B92C8844CF}"/>
              </a:ext>
            </a:extLst>
          </p:cNvPr>
          <p:cNvSpPr/>
          <p:nvPr/>
        </p:nvSpPr>
        <p:spPr>
          <a:xfrm>
            <a:off x="3648455" y="3198114"/>
            <a:ext cx="114300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rPr dirty="0"/>
              <a:t>Preprocessing</a:t>
            </a:r>
          </a:p>
        </p:txBody>
      </p:sp>
      <p:sp>
        <p:nvSpPr>
          <p:cNvPr id="23" name="Right Arrow 9">
            <a:extLst>
              <a:ext uri="{FF2B5EF4-FFF2-40B4-BE49-F238E27FC236}">
                <a16:creationId xmlns:a16="http://schemas.microsoft.com/office/drawing/2014/main" id="{E1D298C8-36E8-E568-8356-DDF29400FE6C}"/>
              </a:ext>
            </a:extLst>
          </p:cNvPr>
          <p:cNvSpPr/>
          <p:nvPr/>
        </p:nvSpPr>
        <p:spPr>
          <a:xfrm>
            <a:off x="4837176" y="3440430"/>
            <a:ext cx="164592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419F26B8-E19F-BAF8-03C7-4A833F2787A2}"/>
              </a:ext>
            </a:extLst>
          </p:cNvPr>
          <p:cNvSpPr/>
          <p:nvPr/>
        </p:nvSpPr>
        <p:spPr>
          <a:xfrm>
            <a:off x="5047488" y="3198114"/>
            <a:ext cx="114300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ML model</a:t>
            </a:r>
          </a:p>
        </p:txBody>
      </p:sp>
      <p:sp>
        <p:nvSpPr>
          <p:cNvPr id="27" name="Right Arrow 11">
            <a:extLst>
              <a:ext uri="{FF2B5EF4-FFF2-40B4-BE49-F238E27FC236}">
                <a16:creationId xmlns:a16="http://schemas.microsoft.com/office/drawing/2014/main" id="{1AE7F949-3C08-A11F-3FE5-53C254F85BED}"/>
              </a:ext>
            </a:extLst>
          </p:cNvPr>
          <p:cNvSpPr/>
          <p:nvPr/>
        </p:nvSpPr>
        <p:spPr>
          <a:xfrm>
            <a:off x="6236208" y="3440430"/>
            <a:ext cx="164592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BDFA9F33-35CD-308C-3CE2-4B9118F0D30C}"/>
              </a:ext>
            </a:extLst>
          </p:cNvPr>
          <p:cNvSpPr/>
          <p:nvPr/>
        </p:nvSpPr>
        <p:spPr>
          <a:xfrm>
            <a:off x="6446520" y="3198114"/>
            <a:ext cx="114300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Approval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project covers the full ML workflow from data to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852160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Prepare a realistic loan approval dataset with the expected Kaggle-style columns.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Handle missing values, encode categorical fields, and scale numerical features.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Train a RandomForestClassifier and evaluate it using standard classification metrics.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Save the trained model, encoders, scaler, and target encoder for reuse.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Build a clean Streamlit app that accepts applicant inputs and shows prediction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6600" y="1531621"/>
            <a:ext cx="3479800" cy="3977639"/>
          </a:xfrm>
          <a:prstGeom prst="roundRect">
            <a:avLst/>
          </a:prstGeom>
          <a:solidFill>
            <a:srgbClr val="F8F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spcAft>
                <a:spcPts val="200"/>
              </a:spcAft>
              <a:defRPr sz="1150">
                <a:solidFill>
                  <a:srgbClr val="103660"/>
                </a:solidFill>
                <a:latin typeface="Consolas"/>
              </a:defRPr>
            </a:pPr>
            <a:r>
              <a:t>SmartLoanPrediction/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app.py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train_model.py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predict.py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requirements.txt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data/loan.csv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model/model.joblib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model/encoder.joblib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model/scaler.joblib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utils/preprocessing.py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dataset follows a loan approval structure with applicant and loan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2057400" cy="822960"/>
          </a:xfrm>
          <a:prstGeom prst="round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1000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508760"/>
            <a:ext cx="2057400" cy="822960"/>
          </a:xfrm>
          <a:prstGeom prst="roundRect">
            <a:avLst/>
          </a:prstGeom>
          <a:solidFill>
            <a:srgbClr val="103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13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508760"/>
            <a:ext cx="2057400" cy="822960"/>
          </a:xfrm>
          <a:prstGeom prst="roundRect">
            <a:avLst/>
          </a:prstGeom>
          <a:solidFill>
            <a:srgbClr val="24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80.8%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Approved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486400" cy="2743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Target column: </a:t>
            </a:r>
            <a:r>
              <a:rPr dirty="0" err="1"/>
              <a:t>Loan_Status</a:t>
            </a:r>
            <a:r>
              <a:rPr dirty="0"/>
              <a:t> with Y and N values.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Input features include income, co-applicant income, loan amount, term, and credit history.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Categorical features include gender, married status, dependents, education, self employment, and property area.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rPr dirty="0"/>
              <a:t>The generated dataset includes missing values in selected columns to test preprocessing.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1093" y="1463041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3660"/>
                </a:solidFill>
                <a:latin typeface="Aptos"/>
              </a:defRPr>
            </a:pPr>
            <a:r>
              <a:rPr dirty="0"/>
              <a:t>Loan status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7710" y="177850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rPr dirty="0"/>
              <a:t>Approved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974" y="1819657"/>
            <a:ext cx="1874519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83974" y="1803654"/>
            <a:ext cx="1874519" cy="146304"/>
          </a:xfrm>
          <a:prstGeom prst="rect">
            <a:avLst/>
          </a:prstGeom>
          <a:solidFill>
            <a:srgbClr val="24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0" y="1764793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rPr dirty="0"/>
              <a:t>808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1737" y="2235707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rPr dirty="0"/>
              <a:t>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8800" y="2295143"/>
            <a:ext cx="1874519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78800" y="2318003"/>
            <a:ext cx="445430" cy="146304"/>
          </a:xfrm>
          <a:prstGeom prst="rect">
            <a:avLst/>
          </a:prstGeom>
          <a:solidFill>
            <a:srgbClr val="24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10892" y="2290571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5940" y="4206240"/>
            <a:ext cx="4251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rPr dirty="0"/>
              <a:t>Missing values present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rPr dirty="0"/>
              <a:t>Gender: 26, Married: 21, Dependents: 34, </a:t>
            </a:r>
            <a:r>
              <a:rPr dirty="0" err="1"/>
              <a:t>Self_Employed</a:t>
            </a:r>
            <a:r>
              <a:rPr dirty="0"/>
              <a:t>: 55, </a:t>
            </a:r>
            <a:r>
              <a:rPr dirty="0" err="1"/>
              <a:t>LoanAmount</a:t>
            </a:r>
            <a:r>
              <a:rPr dirty="0"/>
              <a:t>: 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Training data is cleaned and transformed before model fitting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41732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Validate columns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39" y="1796796"/>
            <a:ext cx="109728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04288" y="1554480"/>
            <a:ext cx="141732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Drop Loan_ID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67328" y="1796796"/>
            <a:ext cx="109728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22776" y="1554480"/>
            <a:ext cx="141732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Fill missing values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85816" y="1796796"/>
            <a:ext cx="109728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41264" y="1554480"/>
            <a:ext cx="141732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Encode categories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04304" y="1796796"/>
            <a:ext cx="109728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59752" y="1554480"/>
            <a:ext cx="141732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Scale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5486400" cy="2743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Missing categorical values are filled using the most frequent value from training data.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Missing numerical values are filled using the median from training data.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Categorical columns are converted using LabelEncoder.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Numerical columns are scaled using StandardScaler.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Preprocessing is fitted only on the training split to avoid data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026664"/>
            <a:ext cx="4480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Saved preprocessing objects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encoder.joblib stores encoders and fill values. scaler.joblib stores the fitted StandardScaler.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163907"/>
            <a:ext cx="4480560" cy="10515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rPr dirty="0"/>
              <a:t>Why this matters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rPr dirty="0"/>
              <a:t>The same transformations are reused by predict.py and the </a:t>
            </a:r>
            <a:r>
              <a:rPr dirty="0" err="1"/>
              <a:t>Streamlit</a:t>
            </a:r>
            <a:r>
              <a:rPr dirty="0"/>
              <a:t> app for consistent predictions.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Random Forest is used for tabular loan approval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212080" cy="3291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The classifier is RandomForestClassifier from Scikit-learn.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The train/test split uses 80% training data and 20% testing data.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The model uses 200 trees, max_depth=8, and class_weight='balanced'.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Artifacts are saved with joblib for later prediction.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Feature importance is available because the model is tree-based.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" y="5367528"/>
            <a:ext cx="132588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Raw 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60220" y="5609844"/>
            <a:ext cx="137160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43100" y="5367528"/>
            <a:ext cx="132588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Preprocessor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4700" y="5609844"/>
            <a:ext cx="137160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97580" y="5367528"/>
            <a:ext cx="132588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9180" y="5609844"/>
            <a:ext cx="137160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52060" y="5367528"/>
            <a:ext cx="1325880" cy="685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Saved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3660"/>
                </a:solidFill>
                <a:latin typeface="Aptos"/>
              </a:defRPr>
            </a:pPr>
            <a:r>
              <a:t>Top feature importance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6499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Credit_History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3392424"/>
            <a:ext cx="2331720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3392424"/>
            <a:ext cx="2331720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78440" y="334670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0.235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9265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LoanAmount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3720084"/>
            <a:ext cx="2331720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01000" y="3720084"/>
            <a:ext cx="188997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78440" y="36743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0.191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2031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ApplicantIncome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4047744"/>
            <a:ext cx="2331720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1000" y="4047744"/>
            <a:ext cx="1599590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40020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0.161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4797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CoapplicantIncome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375404"/>
            <a:ext cx="2331720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1000" y="4375404"/>
            <a:ext cx="1311263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78440" y="43296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0.132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7563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Property_Area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4703064"/>
            <a:ext cx="2331720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01000" y="4703064"/>
            <a:ext cx="662879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78440" y="465734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0.067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00329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5030724"/>
            <a:ext cx="2331720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01000" y="5030724"/>
            <a:ext cx="546506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498500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0.055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system connects training, saved artifacts, and Streamlit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011680" cy="8229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data/loan.csv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Loan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103120" cy="8229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train_model.py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Train and 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2057400" cy="8229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model/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Saved artifacts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17320"/>
            <a:ext cx="1965960" cy="8229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app.py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1719072"/>
            <a:ext cx="502920" cy="228600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532120" y="1719072"/>
            <a:ext cx="502920" cy="228600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8430768" y="1719072"/>
            <a:ext cx="502920" cy="228600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743200"/>
            <a:ext cx="4937760" cy="3977639"/>
          </a:xfrm>
          <a:prstGeom prst="roundRect">
            <a:avLst/>
          </a:prstGeom>
          <a:solidFill>
            <a:srgbClr val="F8F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spcAft>
                <a:spcPts val="200"/>
              </a:spcAft>
              <a:defRPr sz="1150">
                <a:solidFill>
                  <a:srgbClr val="103660"/>
                </a:solidFill>
                <a:latin typeface="Consolas"/>
              </a:defRPr>
            </a:pPr>
            <a:r>
              <a:t>SmartLoanPrediction/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app.py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train_model.py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predict.py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requirements.txt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data/loan.csv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model/model.joblib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model/encoder.joblib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model/scaler.joblib</a:t>
            </a:r>
          </a:p>
          <a:p>
            <a:pPr>
              <a:spcAft>
                <a:spcPts val="200"/>
              </a:spcAft>
              <a:defRPr sz="1150">
                <a:solidFill>
                  <a:srgbClr val="222B36"/>
                </a:solidFill>
                <a:latin typeface="Consolas"/>
              </a:defRPr>
            </a:pPr>
            <a:r>
              <a:t>|-- utils/preprocessing.py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4572000" cy="2743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predict.py loads the saved model, preprocessing dictionary, and scaler.</a:t>
            </a:r>
          </a:p>
          <a:p>
            <a:pPr>
              <a:spcAft>
                <a:spcPts val="7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The Streamlit form collects the same feature columns used during training.</a:t>
            </a:r>
          </a:p>
          <a:p>
            <a:pPr>
              <a:spcAft>
                <a:spcPts val="7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The app displays final prediction, confidence, probabilities, and feature importance.</a:t>
            </a:r>
          </a:p>
          <a:p>
            <a:pPr>
              <a:spcAft>
                <a:spcPts val="7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All project files are kept simple and easy to review for academic evaluation.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Streamlit app provides a simple interface for single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3657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Sidebar explains the project and tools used.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Input widgets collect all required applicant details.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The app validates total income before prediction.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Output includes loan status, confidence, approval probability, and rejection probability.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Feature importance is shown when the trained model is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5530763"/>
            <a:ext cx="1684695" cy="182881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3660"/>
                </a:solidFill>
                <a:latin typeface="Aptos"/>
              </a:defRPr>
            </a:pPr>
            <a:r>
              <a:rPr dirty="0" err="1"/>
              <a:t>Streamlit</a:t>
            </a:r>
            <a:r>
              <a:rPr dirty="0"/>
              <a:t> UI Screenshot Placeholder</a:t>
            </a:r>
          </a:p>
          <a:p>
            <a:pPr algn="ctr">
              <a:defRPr sz="1200">
                <a:solidFill>
                  <a:srgbClr val="576373"/>
                </a:solidFill>
                <a:latin typeface="Aptos"/>
              </a:defRPr>
            </a:pPr>
            <a:r>
              <a:rPr dirty="0"/>
              <a:t>Add a screenshot after running: </a:t>
            </a:r>
            <a:r>
              <a:rPr dirty="0" err="1"/>
              <a:t>streamlit</a:t>
            </a:r>
            <a:r>
              <a:rPr dirty="0"/>
              <a:t> run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2E6300-5BE1-A7EA-859C-3FA3C6F93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809" y="3337560"/>
            <a:ext cx="7012244" cy="3178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trained model gives usable baseline classification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057400" cy="822960"/>
          </a:xfrm>
          <a:prstGeom prst="round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78.00%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057400" cy="822960"/>
          </a:xfrm>
          <a:prstGeom prst="roundRect">
            <a:avLst/>
          </a:prstGeom>
          <a:solidFill>
            <a:srgbClr val="103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87.82%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417320"/>
            <a:ext cx="2057400" cy="822960"/>
          </a:xfrm>
          <a:prstGeom prst="roundRect">
            <a:avLst/>
          </a:prstGeom>
          <a:solidFill>
            <a:srgbClr val="24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84.57%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417320"/>
            <a:ext cx="2057400" cy="822960"/>
          </a:xfrm>
          <a:prstGeom prst="round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86.16%</a:t>
            </a:r>
          </a:p>
          <a:p>
            <a:pPr algn="ctr">
              <a:defRPr sz="950">
                <a:solidFill>
                  <a:srgbClr val="FFFFFF"/>
                </a:solidFill>
                <a:latin typeface="Aptos"/>
              </a:defRPr>
            </a:pPr>
            <a:r>
              <a:t>F1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26080"/>
            <a:ext cx="1417320" cy="502920"/>
          </a:xfrm>
          <a:prstGeom prst="rect">
            <a:avLst/>
          </a:prstGeom>
          <a:solidFill>
            <a:srgbClr val="1036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Actual / Pred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926080"/>
            <a:ext cx="1143000" cy="502920"/>
          </a:xfrm>
          <a:prstGeom prst="rect">
            <a:avLst/>
          </a:prstGeom>
          <a:solidFill>
            <a:srgbClr val="1036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926080"/>
            <a:ext cx="1143000" cy="502920"/>
          </a:xfrm>
          <a:prstGeom prst="rect">
            <a:avLst/>
          </a:prstGeom>
          <a:solidFill>
            <a:srgbClr val="1036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429000"/>
            <a:ext cx="1417320" cy="502920"/>
          </a:xfrm>
          <a:prstGeom prst="rect">
            <a:avLst/>
          </a:prstGeom>
          <a:solidFill>
            <a:srgbClr val="1036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429000"/>
            <a:ext cx="1143000" cy="502920"/>
          </a:xfrm>
          <a:prstGeom prst="rect">
            <a:avLst/>
          </a:prstGeom>
          <a:solidFill>
            <a:srgbClr val="DD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22B3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3429000"/>
            <a:ext cx="1143000" cy="502920"/>
          </a:xfrm>
          <a:prstGeom prst="rect">
            <a:avLst/>
          </a:prstGeom>
          <a:solidFill>
            <a:srgbClr val="F8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22B3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31920"/>
            <a:ext cx="1417320" cy="502920"/>
          </a:xfrm>
          <a:prstGeom prst="rect">
            <a:avLst/>
          </a:prstGeom>
          <a:solidFill>
            <a:srgbClr val="1036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931920"/>
            <a:ext cx="1143000" cy="502920"/>
          </a:xfrm>
          <a:prstGeom prst="rect">
            <a:avLst/>
          </a:prstGeom>
          <a:solidFill>
            <a:srgbClr val="F8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22B3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931920"/>
            <a:ext cx="1143000" cy="502920"/>
          </a:xfrm>
          <a:prstGeom prst="rect">
            <a:avLst/>
          </a:prstGeom>
          <a:solidFill>
            <a:srgbClr val="DD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22B3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7432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3660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18211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3209544"/>
            <a:ext cx="2880359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78040" y="3209544"/>
            <a:ext cx="2558279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04119" y="3163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0.780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650741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3678174"/>
            <a:ext cx="2880359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78040" y="3678174"/>
            <a:ext cx="2880359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04119" y="3632453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0.878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11937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4146804"/>
            <a:ext cx="2880359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78040" y="4146804"/>
            <a:ext cx="277376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04119" y="41010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0.846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58800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22B36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4615434"/>
            <a:ext cx="2880359" cy="146304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178040" y="4615434"/>
            <a:ext cx="2825914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04119" y="456971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6373"/>
                </a:solidFill>
                <a:latin typeface="Aptos"/>
              </a:defRPr>
            </a:pPr>
            <a:r>
              <a:t>0.862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892040"/>
            <a:ext cx="3749039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Confusion matrix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Values from the current saved model: [[19, 19], [25, 137]]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current version is complete, but it can be extended further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486400" cy="4023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Challenge: handling missing values consistently between training and prediction.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Challenge: keeping preprocessing fitted only on training data to avoid leakage.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Challenge: presenting model output clearly for a non-technical user.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Future work: compare more algorithms such as Logistic Regression, SVM, or Gradient Boosting.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Future work: add stronger validation, fairness checks, and explainability for real-world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333" y="4885605"/>
            <a:ext cx="1234440" cy="713232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More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76493" y="5141637"/>
            <a:ext cx="164592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86805" y="4885605"/>
            <a:ext cx="1234440" cy="713232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6965" y="5141637"/>
            <a:ext cx="164592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77277" y="4885605"/>
            <a:ext cx="1234440" cy="713232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57437" y="5141637"/>
            <a:ext cx="164592" cy="201168"/>
          </a:xfrm>
          <a:prstGeom prst="rightArrow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61407" y="4885605"/>
            <a:ext cx="1234440" cy="713232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rPr dirty="0"/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337560"/>
            <a:ext cx="4206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Academic limitation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This project is designed for learning and demonstration, not for real lending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5EA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22" y="68580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660"/>
                </a:solidFill>
                <a:latin typeface="Aptos Display"/>
              </a:defRPr>
            </a:pPr>
            <a:r>
              <a:t>The project demonstrates a complete loan prediction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760720" cy="3840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A realistic loan dataset was prepared and used for supervised classification.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Preprocessing handles missing values, categorical encoding, and numerical scaling.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Random Forest model training and evaluation are implemented in train_model.py.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Saved artifacts are reused by predict.py and the Streamlit frontend.</a:t>
            </a:r>
          </a:p>
          <a:p>
            <a:pPr>
              <a:spcAft>
                <a:spcPts val="700"/>
              </a:spcAft>
              <a:defRPr sz="1500">
                <a:solidFill>
                  <a:srgbClr val="222B36"/>
                </a:solidFill>
                <a:latin typeface="Aptos"/>
              </a:defRPr>
            </a:pPr>
            <a:r>
              <a:t>The final application is suitable for explaining an end-to-end ML student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3566160" cy="9144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Main learning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Connecting model training with an interactive frontend is the key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0426" y="33832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Submission status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Code, dataset, model artifacts, and README are present in the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0426" y="4663440"/>
            <a:ext cx="3566160" cy="914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t>Next step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t>Run the Streamlit app and add final screenshots before presenting.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76373"/>
                </a:solidFill>
                <a:latin typeface="Aptos"/>
              </a:defRPr>
            </a:pPr>
            <a:r>
              <a:t>IBM PBEL Internship Final Project | Smart Loan Approval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366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F5EA8"/>
                </a:solidFill>
                <a:latin typeface="Aptos"/>
              </a:defRPr>
            </a:pPr>
            <a:r>
              <a:t>Smart Loan Approval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6583680" cy="1371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IBM PBEL Internship Final Project Submission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Built with Python, Scikit-learn, Streamlit, Pandas, and NumPy</a:t>
            </a:r>
          </a:p>
          <a:p>
            <a:pPr>
              <a:spcAft>
                <a:spcPts val="7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Repository includes source code, dataset, README, and saved model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828800"/>
            <a:ext cx="2560320" cy="18288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91440" rtlCol="0" anchor="ctr"/>
          <a:lstStyle/>
          <a:p>
            <a:pPr algn="ctr">
              <a:defRPr sz="1400" b="1">
                <a:solidFill>
                  <a:srgbClr val="103660"/>
                </a:solidFill>
                <a:latin typeface="Aptos"/>
              </a:defRPr>
            </a:pPr>
            <a:r>
              <a:rPr dirty="0"/>
              <a:t>Questions</a:t>
            </a:r>
          </a:p>
          <a:p>
            <a:pPr>
              <a:spcBef>
                <a:spcPts val="400"/>
              </a:spcBef>
              <a:defRPr sz="1150">
                <a:solidFill>
                  <a:srgbClr val="222B36"/>
                </a:solidFill>
                <a:latin typeface="Aptos"/>
              </a:defRPr>
            </a:pPr>
            <a:r>
              <a:rPr dirty="0"/>
              <a:t>I will be happy to explain the dataset, preprocessing, model training, or application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63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1621</Words>
  <Application>Microsoft Office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Mritunjay Sahani</cp:lastModifiedBy>
  <cp:revision>1</cp:revision>
  <dcterms:created xsi:type="dcterms:W3CDTF">2013-01-27T09:14:16Z</dcterms:created>
  <dcterms:modified xsi:type="dcterms:W3CDTF">2026-07-19T10:14:17Z</dcterms:modified>
  <cp:category/>
</cp:coreProperties>
</file>